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5" r:id="rId1"/>
  </p:sldMasterIdLst>
  <p:handoutMasterIdLst>
    <p:handoutMasterId r:id="rId3"/>
  </p:handoutMasterIdLst>
  <p:sldIdLst>
    <p:sldId id="257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9536" userDrawn="1">
          <p15:clr>
            <a:srgbClr val="A4A3A4"/>
          </p15:clr>
        </p15:guide>
        <p15:guide id="2" pos="67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99"/>
    <a:srgbClr val="31859A"/>
    <a:srgbClr val="32387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9"/>
    <p:restoredTop sz="96343"/>
  </p:normalViewPr>
  <p:slideViewPr>
    <p:cSldViewPr snapToGrid="0" snapToObjects="1" showGuides="1">
      <p:cViewPr>
        <p:scale>
          <a:sx n="25" d="100"/>
          <a:sy n="25" d="100"/>
        </p:scale>
        <p:origin x="1516" y="-1292"/>
      </p:cViewPr>
      <p:guideLst>
        <p:guide orient="horz" pos="9536"/>
        <p:guide pos="67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5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CC9BB12-59AC-43A1-87FD-C32B61F749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839BF-57A9-4531-BA2C-FAD86B0A47B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F6084-6D5E-4E73-A672-0ADF10A03EDB}" type="datetimeFigureOut">
              <a:rPr lang="aa-ET" smtClean="0"/>
              <a:t>08/31/2025</a:t>
            </a:fld>
            <a:endParaRPr lang="aa-E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0D6FB3-629D-4CFC-96C2-B6E9DA7439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8F627C-FC92-4B92-BFDE-E21EF615924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B600C8-34AF-4F6E-816A-69DF22E83B2C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31349092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B0CBE2CD-7658-244A-B794-995A90FEBE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122" y="3193616"/>
            <a:ext cx="20462941" cy="2146485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7416" b="1" i="0">
                <a:solidFill>
                  <a:srgbClr val="006699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marL="0" marR="0" lvl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Put Here the Title of Your Poster and Adjust the Font Size if Needed</a:t>
            </a:r>
          </a:p>
        </p:txBody>
      </p:sp>
      <p:sp>
        <p:nvSpPr>
          <p:cNvPr id="40" name="Text Placeholder 17">
            <a:extLst>
              <a:ext uri="{FF2B5EF4-FFF2-40B4-BE49-F238E27FC236}">
                <a16:creationId xmlns:a16="http://schemas.microsoft.com/office/drawing/2014/main" id="{B6689AAD-558C-A94D-9FEA-5F42A22138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120" y="5481241"/>
            <a:ext cx="20518358" cy="879888"/>
          </a:xfrm>
          <a:prstGeom prst="rect">
            <a:avLst/>
          </a:prstGeom>
        </p:spPr>
        <p:txBody>
          <a:bodyPr wrap="square" lIns="0" rIns="0">
            <a:no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marL="0" marR="0" lvl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List of authors and co-authors</a:t>
            </a:r>
          </a:p>
        </p:txBody>
      </p:sp>
      <p:sp>
        <p:nvSpPr>
          <p:cNvPr id="41" name="Text Placeholder 17">
            <a:extLst>
              <a:ext uri="{FF2B5EF4-FFF2-40B4-BE49-F238E27FC236}">
                <a16:creationId xmlns:a16="http://schemas.microsoft.com/office/drawing/2014/main" id="{F960BF3F-086B-B943-8BC4-94A02C1687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122" y="6421106"/>
            <a:ext cx="20461616" cy="679289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List of affiliated institutions/organizations</a:t>
            </a:r>
          </a:p>
        </p:txBody>
      </p:sp>
      <p:sp>
        <p:nvSpPr>
          <p:cNvPr id="44" name="Text Placeholder 17">
            <a:extLst>
              <a:ext uri="{FF2B5EF4-FFF2-40B4-BE49-F238E27FC236}">
                <a16:creationId xmlns:a16="http://schemas.microsoft.com/office/drawing/2014/main" id="{9B659BDA-5A50-ED47-9D4F-B1FC4F1EDF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4122" y="8746320"/>
            <a:ext cx="10087503" cy="659659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1" i="0">
                <a:solidFill>
                  <a:srgbClr val="006699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INTRODUCTION or ABSTRACT (click to edit)</a:t>
            </a:r>
          </a:p>
        </p:txBody>
      </p:sp>
      <p:sp>
        <p:nvSpPr>
          <p:cNvPr id="45" name="Text Placeholder 17">
            <a:extLst>
              <a:ext uri="{FF2B5EF4-FFF2-40B4-BE49-F238E27FC236}">
                <a16:creationId xmlns:a16="http://schemas.microsoft.com/office/drawing/2014/main" id="{1468222F-B9ED-8947-8198-8135C265827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4122" y="10290040"/>
            <a:ext cx="10087503" cy="1759575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  <a:p>
            <a:pPr lvl="0"/>
            <a:endParaRPr lang="en-US" dirty="0"/>
          </a:p>
        </p:txBody>
      </p:sp>
      <p:sp>
        <p:nvSpPr>
          <p:cNvPr id="46" name="Text Placeholder 17">
            <a:extLst>
              <a:ext uri="{FF2B5EF4-FFF2-40B4-BE49-F238E27FC236}">
                <a16:creationId xmlns:a16="http://schemas.microsoft.com/office/drawing/2014/main" id="{81730A90-CCC4-5749-AC0D-3734DB701AF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122" y="13559888"/>
            <a:ext cx="10066488" cy="659659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1" i="0">
                <a:solidFill>
                  <a:srgbClr val="0066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marL="0" marR="0" lvl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OBJECTIVES (click to edit)</a:t>
            </a:r>
            <a:endParaRPr lang="en-US" dirty="0">
              <a:effectLst/>
              <a:latin typeface="Calibri" panose="020F0502020204030204" pitchFamily="34" charset="0"/>
            </a:endParaRP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470BA959-725A-9D43-BF4C-5572C88320A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34119" y="14539489"/>
            <a:ext cx="10111555" cy="1759575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Type in or paste your text here </a:t>
            </a:r>
          </a:p>
          <a:p>
            <a:pPr lvl="0"/>
            <a:endParaRPr lang="en-US" dirty="0"/>
          </a:p>
        </p:txBody>
      </p:sp>
      <p:cxnSp>
        <p:nvCxnSpPr>
          <p:cNvPr id="49" name="Gerade Verbindung 48">
            <a:extLst>
              <a:ext uri="{FF2B5EF4-FFF2-40B4-BE49-F238E27FC236}">
                <a16:creationId xmlns:a16="http://schemas.microsoft.com/office/drawing/2014/main" id="{609088F9-22F8-114A-B2FD-83DD55963352}"/>
              </a:ext>
            </a:extLst>
          </p:cNvPr>
          <p:cNvCxnSpPr>
            <a:cxnSpLocks/>
          </p:cNvCxnSpPr>
          <p:nvPr userDrawn="1"/>
        </p:nvCxnSpPr>
        <p:spPr>
          <a:xfrm>
            <a:off x="10704871" y="8746320"/>
            <a:ext cx="0" cy="205029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2" name="Text Placeholder 17">
            <a:extLst>
              <a:ext uri="{FF2B5EF4-FFF2-40B4-BE49-F238E27FC236}">
                <a16:creationId xmlns:a16="http://schemas.microsoft.com/office/drawing/2014/main" id="{0ACCD1CE-29F7-BB40-99BE-C893148170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4120" y="18648848"/>
            <a:ext cx="10114013" cy="659659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1" i="0">
                <a:solidFill>
                  <a:srgbClr val="0066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marL="0" marR="0" lvl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METHODOLOGY (click to edit)</a:t>
            </a:r>
            <a:endParaRPr lang="en-US" dirty="0">
              <a:effectLst/>
              <a:latin typeface="Calibri" panose="020F0502020204030204" pitchFamily="34" charset="0"/>
            </a:endParaRPr>
          </a:p>
        </p:txBody>
      </p:sp>
      <p:sp>
        <p:nvSpPr>
          <p:cNvPr id="73" name="Text Placeholder 17">
            <a:extLst>
              <a:ext uri="{FF2B5EF4-FFF2-40B4-BE49-F238E27FC236}">
                <a16:creationId xmlns:a16="http://schemas.microsoft.com/office/drawing/2014/main" id="{F2383BE4-D890-6C4F-9079-2999EE521D0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34118" y="19645054"/>
            <a:ext cx="10093039" cy="1759575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Type in or paste your text here </a:t>
            </a:r>
          </a:p>
          <a:p>
            <a:pPr lvl="0"/>
            <a:endParaRPr lang="en-US" dirty="0"/>
          </a:p>
        </p:txBody>
      </p:sp>
      <p:sp>
        <p:nvSpPr>
          <p:cNvPr id="74" name="Text Placeholder 17">
            <a:extLst>
              <a:ext uri="{FF2B5EF4-FFF2-40B4-BE49-F238E27FC236}">
                <a16:creationId xmlns:a16="http://schemas.microsoft.com/office/drawing/2014/main" id="{E2364A2B-5320-B845-8AD5-AE30D17BA7B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025888" y="8746318"/>
            <a:ext cx="9775119" cy="659659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1" i="0">
                <a:solidFill>
                  <a:srgbClr val="0066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marL="0" marR="0" lvl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RESULTS (click to edit)</a:t>
            </a:r>
            <a:endParaRPr lang="en-US" dirty="0">
              <a:effectLst/>
              <a:latin typeface="Calibri" panose="020F0502020204030204" pitchFamily="34" charset="0"/>
            </a:endParaRPr>
          </a:p>
        </p:txBody>
      </p:sp>
      <p:sp>
        <p:nvSpPr>
          <p:cNvPr id="75" name="Text Placeholder 17">
            <a:extLst>
              <a:ext uri="{FF2B5EF4-FFF2-40B4-BE49-F238E27FC236}">
                <a16:creationId xmlns:a16="http://schemas.microsoft.com/office/drawing/2014/main" id="{E0F51DCA-3FD9-F64C-9376-132AA743F96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25890" y="9742523"/>
            <a:ext cx="9769849" cy="1759575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marL="0" marR="0" lvl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Type in or paste your text here.</a:t>
            </a:r>
          </a:p>
          <a:p>
            <a:pPr marL="0" marR="0" lvl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78" name="Text Placeholder 17">
            <a:extLst>
              <a:ext uri="{FF2B5EF4-FFF2-40B4-BE49-F238E27FC236}">
                <a16:creationId xmlns:a16="http://schemas.microsoft.com/office/drawing/2014/main" id="{B7297EA1-5F3D-EA43-B978-D60C5A2E64A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5081" y="24140352"/>
            <a:ext cx="10067502" cy="659659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1" i="0">
                <a:solidFill>
                  <a:srgbClr val="0066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marL="0" marR="0" lvl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DISCUSSIONS (click to edit)</a:t>
            </a:r>
            <a:endParaRPr lang="en-US" dirty="0">
              <a:effectLst/>
              <a:latin typeface="Calibri" panose="020F0502020204030204" pitchFamily="34" charset="0"/>
            </a:endParaRPr>
          </a:p>
        </p:txBody>
      </p:sp>
      <p:sp>
        <p:nvSpPr>
          <p:cNvPr id="79" name="Text Placeholder 17">
            <a:extLst>
              <a:ext uri="{FF2B5EF4-FFF2-40B4-BE49-F238E27FC236}">
                <a16:creationId xmlns:a16="http://schemas.microsoft.com/office/drawing/2014/main" id="{EFEB45C0-6507-7145-AC87-DB32904566D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65083" y="25136555"/>
            <a:ext cx="10062074" cy="1759575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marL="0" marR="0" lvl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Type in or paste your text here</a:t>
            </a:r>
          </a:p>
          <a:p>
            <a:pPr lvl="0"/>
            <a:r>
              <a:rPr lang="en-US" dirty="0"/>
              <a:t>  </a:t>
            </a:r>
          </a:p>
        </p:txBody>
      </p:sp>
      <p:sp>
        <p:nvSpPr>
          <p:cNvPr id="80" name="Text Placeholder 17">
            <a:extLst>
              <a:ext uri="{FF2B5EF4-FFF2-40B4-BE49-F238E27FC236}">
                <a16:creationId xmlns:a16="http://schemas.microsoft.com/office/drawing/2014/main" id="{51C56E52-D116-544A-868C-BAF83D0C8C5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1025884" y="13549990"/>
            <a:ext cx="10071916" cy="659659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1" i="0">
                <a:solidFill>
                  <a:srgbClr val="0066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marL="0" marR="0" lvl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CONCLUSIONS (click to edit) </a:t>
            </a:r>
            <a:endParaRPr lang="en-US" dirty="0">
              <a:effectLst/>
              <a:latin typeface="Calibri" panose="020F0502020204030204" pitchFamily="34" charset="0"/>
            </a:endParaRPr>
          </a:p>
        </p:txBody>
      </p:sp>
      <p:sp>
        <p:nvSpPr>
          <p:cNvPr id="81" name="Text Placeholder 17">
            <a:extLst>
              <a:ext uri="{FF2B5EF4-FFF2-40B4-BE49-F238E27FC236}">
                <a16:creationId xmlns:a16="http://schemas.microsoft.com/office/drawing/2014/main" id="{153DD18A-6D23-A747-890F-ABF715D9E11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1027734" y="14546194"/>
            <a:ext cx="10066488" cy="1759575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Type in or paste your text here </a:t>
            </a:r>
          </a:p>
          <a:p>
            <a:pPr lvl="0"/>
            <a:endParaRPr lang="en-US" dirty="0"/>
          </a:p>
        </p:txBody>
      </p:sp>
      <p:sp>
        <p:nvSpPr>
          <p:cNvPr id="82" name="Text Placeholder 17">
            <a:extLst>
              <a:ext uri="{FF2B5EF4-FFF2-40B4-BE49-F238E27FC236}">
                <a16:creationId xmlns:a16="http://schemas.microsoft.com/office/drawing/2014/main" id="{B891064D-AF0B-A546-8503-4B23A2B10DE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020253" y="18593022"/>
            <a:ext cx="9780390" cy="659659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1" i="0">
                <a:solidFill>
                  <a:srgbClr val="00669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marL="0" marR="0" lvl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ACKNOWLEDGEMENTS (click to edit)</a:t>
            </a:r>
            <a:endParaRPr lang="en-US" dirty="0">
              <a:effectLst/>
              <a:latin typeface="Calibri" panose="020F0502020204030204" pitchFamily="34" charset="0"/>
            </a:endParaRPr>
          </a:p>
        </p:txBody>
      </p:sp>
      <p:sp>
        <p:nvSpPr>
          <p:cNvPr id="83" name="Text Placeholder 17">
            <a:extLst>
              <a:ext uri="{FF2B5EF4-FFF2-40B4-BE49-F238E27FC236}">
                <a16:creationId xmlns:a16="http://schemas.microsoft.com/office/drawing/2014/main" id="{89E17066-9128-DE4B-922D-7AEA516FB1B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021946" y="20088779"/>
            <a:ext cx="9775119" cy="1759575"/>
          </a:xfrm>
          <a:prstGeom prst="rect">
            <a:avLst/>
          </a:prstGeom>
        </p:spPr>
        <p:txBody>
          <a:bodyPr wrap="square" lIns="0" tIns="36000" rIns="0" bIns="3600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Type in or paste your text here</a:t>
            </a:r>
          </a:p>
          <a:p>
            <a:pPr lvl="0"/>
            <a:r>
              <a:rPr lang="en-US" dirty="0"/>
              <a:t> </a:t>
            </a:r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54BEA973-5181-F644-B9AD-9EB544702F2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52322" y="7379361"/>
            <a:ext cx="20512186" cy="679289"/>
          </a:xfrm>
          <a:prstGeom prst="rect">
            <a:avLst/>
          </a:prstGeom>
        </p:spPr>
        <p:txBody>
          <a:bodyPr wrap="square" lIns="0" rIns="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0" i="0">
                <a:solidFill>
                  <a:schemeClr val="tx1"/>
                </a:solidFill>
                <a:latin typeface="+mn-lt"/>
                <a:cs typeface="Arial" panose="020B0604020202020204" pitchFamily="34" charset="0"/>
              </a:defRPr>
            </a:lvl1pPr>
            <a:lvl2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2pPr>
            <a:lvl3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3pPr>
            <a:lvl4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4pPr>
            <a:lvl5pPr marL="0" indent="0">
              <a:buNone/>
              <a:defRPr b="0" i="0">
                <a:latin typeface="Arial Narrow" panose="020B0604020202020204" pitchFamily="34" charset="0"/>
                <a:cs typeface="Arial Narrow" panose="020B0604020202020204" pitchFamily="34" charset="0"/>
              </a:defRPr>
            </a:lvl5pPr>
          </a:lstStyle>
          <a:p>
            <a:pPr lvl="0"/>
            <a:r>
              <a:rPr lang="en-US" dirty="0"/>
              <a:t>List of affiliated e-mail addresses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9060AD-D46D-4119-94C7-8EE672AE1A6B}"/>
              </a:ext>
            </a:extLst>
          </p:cNvPr>
          <p:cNvSpPr txBox="1"/>
          <p:nvPr userDrawn="1"/>
        </p:nvSpPr>
        <p:spPr>
          <a:xfrm>
            <a:off x="3647697" y="334923"/>
            <a:ext cx="1172943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00669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13th IEEE International Conference on Intelligent Data Acquisition and Advanced Computing Systems: Technology and Applications</a:t>
            </a:r>
          </a:p>
        </p:txBody>
      </p:sp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434" y="288883"/>
            <a:ext cx="3440740" cy="261041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6293" y="1980969"/>
            <a:ext cx="1073164" cy="1073164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27240" y="1923594"/>
            <a:ext cx="1220694" cy="1267642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8192" y="2351979"/>
            <a:ext cx="1530690" cy="644009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0214" y="23873"/>
            <a:ext cx="1641738" cy="2112369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53537" y="304782"/>
            <a:ext cx="1057789" cy="1676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3435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9">
          <p15:clr>
            <a:srgbClr val="FBAE40"/>
          </p15:clr>
        </p15:guide>
        <p15:guide id="3" pos="6905">
          <p15:clr>
            <a:srgbClr val="FBAE40"/>
          </p15:clr>
        </p15:guide>
        <p15:guide id="6" pos="13100">
          <p15:clr>
            <a:srgbClr val="FBAE40"/>
          </p15:clr>
        </p15:guide>
        <p15:guide id="7" orient="horz" pos="1848">
          <p15:clr>
            <a:srgbClr val="FBAE40"/>
          </p15:clr>
        </p15:guide>
        <p15:guide id="8" orient="horz" pos="18425">
          <p15:clr>
            <a:srgbClr val="FBAE40"/>
          </p15:clr>
        </p15:guide>
        <p15:guide id="9" pos="656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8/31/2025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143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536" userDrawn="1">
          <p15:clr>
            <a:srgbClr val="F26B43"/>
          </p15:clr>
        </p15:guide>
        <p15:guide id="2" pos="673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radiukp@khmnu.edu.ua" TargetMode="External"/><Relationship Id="rId7" Type="http://schemas.openxmlformats.org/officeDocument/2006/relationships/image" Target="../media/image7.wmf"/><Relationship Id="rId2" Type="http://schemas.openxmlformats.org/officeDocument/2006/relationships/hyperlink" Target="mailto:svystuns@khmnu.edu.ua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as@wunu.edu.ua" TargetMode="External"/><Relationship Id="rId5" Type="http://schemas.openxmlformats.org/officeDocument/2006/relationships/hyperlink" Target="mailto:savenko_oleg_st@ukr.net" TargetMode="External"/><Relationship Id="rId4" Type="http://schemas.openxmlformats.org/officeDocument/2006/relationships/hyperlink" Target="mailto:melnychenko@khmnu.edu.u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6EB4516E-53B0-C77F-51BC-DBE3096084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4122" y="3193616"/>
            <a:ext cx="20462941" cy="2146485"/>
          </a:xfrm>
        </p:spPr>
        <p:txBody>
          <a:bodyPr/>
          <a:lstStyle/>
          <a:p>
            <a:r>
              <a:rPr lang="en-US" dirty="0"/>
              <a:t>YOLO Ensemble for UAV-based Multispectral Defect Detection in Wind Turbine Components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4EEE999-9D81-0B81-77E2-D4051455C4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Serhii Svystun¹, Pavlo Radiuk¹, Oleksandr Melnychenko¹, Oleg Savenko¹, Anatoliy Sachenko²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B6E645-4A8A-5324-E110-74B9EC2CDE6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4122" y="6421106"/>
            <a:ext cx="20461616" cy="679289"/>
          </a:xfrm>
        </p:spPr>
        <p:txBody>
          <a:bodyPr/>
          <a:lstStyle/>
          <a:p>
            <a:r>
              <a:rPr lang="en-US" dirty="0"/>
              <a:t>¹ Khmelnytskyi National University, Ukraine, ² West Ukrainian National University, Ukraine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62B20BE-C916-A740-5679-C17D7006A7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 dirty="0">
                <a:latin typeface="Arial" panose="020B0604020202020204" pitchFamily="34" charset="0"/>
              </a:rPr>
              <a:t>INTRODUCTION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A42F102-CBAB-E817-6A0D-18AA2228DD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34122" y="9502185"/>
            <a:ext cx="10230808" cy="3457889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300" dirty="0"/>
              <a:t>Wind power plants critical in renewable energy transition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300" dirty="0"/>
              <a:t>Efficiency depends on timely maintenance and defect prevention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300" dirty="0"/>
              <a:t>Minor defects can pose substantial economic and safety risks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300" dirty="0"/>
              <a:t>UAVs with sensors efficiently collect visual information</a:t>
            </a:r>
            <a:endParaRPr lang="de-DE" sz="3300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628A03D-DB53-B5E2-BD71-9BE9776D583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52635" y="13140564"/>
            <a:ext cx="10066488" cy="659659"/>
          </a:xfrm>
        </p:spPr>
        <p:txBody>
          <a:bodyPr/>
          <a:lstStyle/>
          <a:p>
            <a:r>
              <a:rPr lang="de-DE" dirty="0"/>
              <a:t>MAJOR CONTRIBUTIONS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90D342F1-D481-052C-D921-EBF377EAEA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2635" y="13980713"/>
            <a:ext cx="10111555" cy="2765748"/>
          </a:xfrm>
        </p:spPr>
        <p:txBody>
          <a:bodyPr/>
          <a:lstStyle/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300" dirty="0"/>
              <a:t>Multispectral image fusion (</a:t>
            </a:r>
            <a:r>
              <a:rPr lang="en-US" sz="3300" b="1" dirty="0"/>
              <a:t>RGB + thermal IR</a:t>
            </a:r>
            <a:r>
              <a:rPr lang="en-US" sz="3300" dirty="0"/>
              <a:t>)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300" dirty="0"/>
              <a:t>Novel ensemble learning approach with bounding box fusion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buFont typeface="+mj-lt"/>
              <a:buAutoNum type="arabicPeriod"/>
            </a:pPr>
            <a:r>
              <a:rPr lang="en-US" sz="3300" dirty="0"/>
              <a:t>Comprehensive evaluation showing superior performance</a:t>
            </a:r>
            <a:endParaRPr lang="de-DE" sz="3300" dirty="0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D8F06844-DBEE-615E-7C64-7EBFF311865D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52635" y="17009640"/>
            <a:ext cx="10114013" cy="659659"/>
          </a:xfrm>
        </p:spPr>
        <p:txBody>
          <a:bodyPr/>
          <a:lstStyle/>
          <a:p>
            <a:r>
              <a:rPr lang="de-DE" dirty="0"/>
              <a:t>METHODS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0C8E4809-4E2E-B7A4-50AA-102571FFB7B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61892" y="26266273"/>
            <a:ext cx="10093039" cy="382757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400" b="1" dirty="0">
                <a:solidFill>
                  <a:srgbClr val="006699"/>
                </a:solidFill>
              </a:rPr>
              <a:t>Our approach</a:t>
            </a:r>
            <a:r>
              <a:rPr lang="en-US" sz="3400" dirty="0"/>
              <a:t> integrates high-resolution visible (</a:t>
            </a:r>
            <a:r>
              <a:rPr lang="en-US" sz="3400" b="1" dirty="0"/>
              <a:t>RGB</a:t>
            </a:r>
            <a:r>
              <a:rPr lang="en-US" sz="3400" dirty="0"/>
              <a:t>) and thermal (</a:t>
            </a:r>
            <a:r>
              <a:rPr lang="en-US" sz="3400" b="1" dirty="0"/>
              <a:t>IR</a:t>
            </a:r>
            <a:r>
              <a:rPr lang="en-US" sz="3400" dirty="0"/>
              <a:t>) data channels through: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400" dirty="0"/>
              <a:t>Data acquisition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400" dirty="0"/>
              <a:t>Multispectral image fusion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400" dirty="0"/>
              <a:t>Parallel model training</a:t>
            </a:r>
          </a:p>
          <a:p>
            <a:pPr marL="514350" indent="-51435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sz="3400" dirty="0"/>
              <a:t>Ensemble fusion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AA815418-EACE-22C6-3198-8C77C04080F1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1027734" y="16808744"/>
            <a:ext cx="9775119" cy="659659"/>
          </a:xfrm>
        </p:spPr>
        <p:txBody>
          <a:bodyPr/>
          <a:lstStyle/>
          <a:p>
            <a:r>
              <a:rPr lang="de-DE" dirty="0"/>
              <a:t>RESULTS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27A753E2-37E5-2226-BFB6-0D4DFB6C217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0963488" y="17592357"/>
            <a:ext cx="9769849" cy="111914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3400" b="1" noProof="0" dirty="0"/>
              <a:t>Training dataset: </a:t>
            </a:r>
            <a:r>
              <a:rPr lang="en-US" sz="3400" noProof="0" dirty="0"/>
              <a:t>Blade30 dataset (1,102 images) + 670 overheating images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6D0A103-96CA-575C-A333-CBD91CD6C251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963488" y="12438051"/>
            <a:ext cx="10067502" cy="659659"/>
          </a:xfrm>
        </p:spPr>
        <p:txBody>
          <a:bodyPr/>
          <a:lstStyle/>
          <a:p>
            <a:r>
              <a:rPr lang="de-DE" dirty="0"/>
              <a:t>ENSEMBLE FUSION ALGORITHM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AC72312C-D64E-B4B5-80F3-AB071E4E9F6E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10962876" y="13306462"/>
            <a:ext cx="10062074" cy="3442856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400" dirty="0"/>
              <a:t>Intelligent combination of predictions using </a:t>
            </a:r>
            <a:r>
              <a:rPr lang="en-US" sz="3400" b="1" dirty="0"/>
              <a:t>bounding box fusion</a:t>
            </a:r>
            <a:r>
              <a:rPr lang="en-US" sz="3400" dirty="0"/>
              <a:t>: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400" dirty="0"/>
              <a:t>Merges overlapping detections of the same class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400" dirty="0"/>
              <a:t>Preserves unique findings from each model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400" dirty="0"/>
              <a:t>Uses weighted averages and Non-Maximum Suppression</a:t>
            </a:r>
            <a:endParaRPr lang="de-DE" sz="3400" dirty="0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EB8B2329-497B-E3A5-9E14-0AB55C0F25D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1027734" y="24911387"/>
            <a:ext cx="10071916" cy="659659"/>
          </a:xfrm>
        </p:spPr>
        <p:txBody>
          <a:bodyPr/>
          <a:lstStyle/>
          <a:p>
            <a:r>
              <a:rPr lang="de-DE" dirty="0"/>
              <a:t>CONCLUSIONS</a:t>
            </a:r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8629FD74-E531-D8C8-8BD5-8579F171D7BC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0937952" y="25681497"/>
            <a:ext cx="10066488" cy="4412353"/>
          </a:xfrm>
        </p:spPr>
        <p:txBody>
          <a:bodyPr/>
          <a:lstStyle/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400" dirty="0"/>
              <a:t>Our ensemble approach achieves superior performance in detecting wind turbine defects compared to single-model approaches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400" dirty="0"/>
              <a:t>Integration of thermal data is particularly impactful for identifying overheating and subsurface defects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400" dirty="0"/>
              <a:t>Future research will focus on optimizing the ensemble for real-time edge deployment and incorporating advanced data fusion techniques</a:t>
            </a:r>
            <a:endParaRPr lang="de-DE" sz="3400" dirty="0"/>
          </a:p>
        </p:txBody>
      </p:sp>
      <p:sp>
        <p:nvSpPr>
          <p:cNvPr id="20" name="Textplatzhalter 18">
            <a:extLst>
              <a:ext uri="{FF2B5EF4-FFF2-40B4-BE49-F238E27FC236}">
                <a16:creationId xmlns:a16="http://schemas.microsoft.com/office/drawing/2014/main" id="{F86D103D-45A8-EB3A-DA51-1817FB44BF8C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352322" y="7379361"/>
            <a:ext cx="20512186" cy="1089529"/>
          </a:xfrm>
        </p:spPr>
        <p:txBody>
          <a:bodyPr/>
          <a:lstStyle/>
          <a:p>
            <a:r>
              <a:rPr lang="de-DE" sz="36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svystuns@khmnu.edu.ua</a:t>
            </a:r>
            <a:r>
              <a:rPr lang="de-DE" sz="3600" dirty="0"/>
              <a:t>, </a:t>
            </a:r>
            <a:r>
              <a:rPr lang="de-DE" sz="3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radiukp@khmnu.edu.ua</a:t>
            </a:r>
            <a:r>
              <a:rPr lang="de-DE" sz="3600" dirty="0"/>
              <a:t>, </a:t>
            </a:r>
            <a:r>
              <a:rPr lang="de-DE" sz="36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melnychenko@khmnu.edu.ua</a:t>
            </a:r>
            <a:r>
              <a:rPr lang="de-DE" sz="3600" dirty="0"/>
              <a:t>,  </a:t>
            </a:r>
            <a:r>
              <a:rPr lang="de-DE" sz="36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savenko_oleg_st@ukr.net</a:t>
            </a:r>
            <a:r>
              <a:rPr lang="de-DE" sz="3600" dirty="0"/>
              <a:t>, </a:t>
            </a:r>
            <a:r>
              <a:rPr lang="de-DE" sz="3600" dirty="0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as@wunu.edu.ua</a:t>
            </a:r>
            <a:r>
              <a:rPr lang="de-DE" sz="3600" dirty="0"/>
              <a:t> 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0269A262-A608-353A-B684-A3843D86C1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71127"/>
              </p:ext>
            </p:extLst>
          </p:nvPr>
        </p:nvGraphicFramePr>
        <p:xfrm>
          <a:off x="10962876" y="18876838"/>
          <a:ext cx="9720000" cy="32400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2880969">
                  <a:extLst>
                    <a:ext uri="{9D8B030D-6E8A-4147-A177-3AD203B41FA5}">
                      <a16:colId xmlns:a16="http://schemas.microsoft.com/office/drawing/2014/main" val="2112906602"/>
                    </a:ext>
                  </a:extLst>
                </a:gridCol>
                <a:gridCol w="1979031">
                  <a:extLst>
                    <a:ext uri="{9D8B030D-6E8A-4147-A177-3AD203B41FA5}">
                      <a16:colId xmlns:a16="http://schemas.microsoft.com/office/drawing/2014/main" val="2481945285"/>
                    </a:ext>
                  </a:extLst>
                </a:gridCol>
                <a:gridCol w="2430000">
                  <a:extLst>
                    <a:ext uri="{9D8B030D-6E8A-4147-A177-3AD203B41FA5}">
                      <a16:colId xmlns:a16="http://schemas.microsoft.com/office/drawing/2014/main" val="1473326670"/>
                    </a:ext>
                  </a:extLst>
                </a:gridCol>
                <a:gridCol w="2430000">
                  <a:extLst>
                    <a:ext uri="{9D8B030D-6E8A-4147-A177-3AD203B41FA5}">
                      <a16:colId xmlns:a16="http://schemas.microsoft.com/office/drawing/2014/main" val="3104366868"/>
                    </a:ext>
                  </a:extLst>
                </a:gridCol>
              </a:tblGrid>
              <a:tr h="648000">
                <a:tc>
                  <a:txBody>
                    <a:bodyPr/>
                    <a:lstStyle/>
                    <a:p>
                      <a:r>
                        <a:rPr lang="en-GB" sz="3200" dirty="0">
                          <a:solidFill>
                            <a:srgbClr val="006699"/>
                          </a:solidFill>
                        </a:rPr>
                        <a:t>Model</a:t>
                      </a:r>
                      <a:endParaRPr lang="uk-UA" sz="3200" dirty="0">
                        <a:solidFill>
                          <a:srgbClr val="006699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rgbClr val="006699"/>
                          </a:solidFill>
                        </a:rPr>
                        <a:t>mAP@.5</a:t>
                      </a:r>
                      <a:endParaRPr lang="uk-UA" sz="3200" dirty="0">
                        <a:solidFill>
                          <a:srgbClr val="006699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rgbClr val="006699"/>
                          </a:solidFill>
                        </a:rPr>
                        <a:t>mAP@.5:.95</a:t>
                      </a:r>
                      <a:endParaRPr lang="uk-UA" sz="3200" dirty="0">
                        <a:solidFill>
                          <a:srgbClr val="006699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>
                          <a:solidFill>
                            <a:srgbClr val="006699"/>
                          </a:solidFill>
                        </a:rPr>
                        <a:t>F1-Score</a:t>
                      </a:r>
                      <a:endParaRPr lang="uk-UA" sz="3200" dirty="0">
                        <a:solidFill>
                          <a:srgbClr val="006699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4249348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GB" sz="3200" dirty="0"/>
                        <a:t>YOLOv8 (Single)</a:t>
                      </a:r>
                      <a:endParaRPr lang="uk-UA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0.91</a:t>
                      </a:r>
                      <a:endParaRPr lang="uk-UA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0.76</a:t>
                      </a:r>
                      <a:endParaRPr lang="uk-UA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0.88</a:t>
                      </a:r>
                      <a:endParaRPr lang="uk-UA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493871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GB" sz="3200" dirty="0"/>
                        <a:t>Faster R-CNN</a:t>
                      </a:r>
                      <a:endParaRPr lang="uk-UA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0.89</a:t>
                      </a:r>
                      <a:endParaRPr lang="uk-UA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0.74</a:t>
                      </a:r>
                      <a:endParaRPr lang="uk-UA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-</a:t>
                      </a:r>
                      <a:endParaRPr lang="uk-UA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445281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GB" sz="3200" dirty="0"/>
                        <a:t>Cascade R-CNN</a:t>
                      </a:r>
                      <a:endParaRPr lang="uk-UA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0.90</a:t>
                      </a:r>
                      <a:endParaRPr lang="uk-UA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0.75</a:t>
                      </a:r>
                      <a:endParaRPr lang="uk-UA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-</a:t>
                      </a:r>
                      <a:endParaRPr lang="uk-UA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255955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r>
                        <a:rPr lang="en-GB" sz="3200" dirty="0"/>
                        <a:t>Our Ensemble</a:t>
                      </a:r>
                      <a:endParaRPr lang="uk-UA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0.93</a:t>
                      </a:r>
                      <a:endParaRPr lang="uk-UA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0.79</a:t>
                      </a:r>
                      <a:endParaRPr lang="uk-UA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chemeClr val="tx1"/>
                          </a:solidFill>
                        </a:rPr>
                        <a:t>0.90</a:t>
                      </a:r>
                      <a:endParaRPr lang="uk-UA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1232046"/>
                  </a:ext>
                </a:extLst>
              </a:tr>
            </a:tbl>
          </a:graphicData>
        </a:graphic>
      </p:graphicFrame>
      <p:sp>
        <p:nvSpPr>
          <p:cNvPr id="25" name="Textplatzhalter 11">
            <a:extLst>
              <a:ext uri="{FF2B5EF4-FFF2-40B4-BE49-F238E27FC236}">
                <a16:creationId xmlns:a16="http://schemas.microsoft.com/office/drawing/2014/main" id="{AAC92ACF-F4B3-3140-2C40-74909E1E470C}"/>
              </a:ext>
            </a:extLst>
          </p:cNvPr>
          <p:cNvSpPr txBox="1">
            <a:spLocks/>
          </p:cNvSpPr>
          <p:nvPr/>
        </p:nvSpPr>
        <p:spPr>
          <a:xfrm>
            <a:off x="10937952" y="22390338"/>
            <a:ext cx="9769849" cy="2396416"/>
          </a:xfrm>
          <a:prstGeom prst="rect">
            <a:avLst/>
          </a:prstGeom>
        </p:spPr>
        <p:txBody>
          <a:bodyPr vert="horz" wrap="square" lIns="0" tIns="36000" rIns="0" bIns="36000" rtlCol="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5612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0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677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0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209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0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209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5880392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949554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3400" b="1" dirty="0"/>
              <a:t>Key improvements:</a:t>
            </a:r>
          </a:p>
          <a:p>
            <a:pPr>
              <a:spcBef>
                <a:spcPts val="600"/>
              </a:spcBef>
            </a:pPr>
            <a:r>
              <a:rPr lang="en-US" sz="3400" dirty="0"/>
              <a:t>• Mean mAP@.5: 0.91 → 0.93 (2.2% improvement)</a:t>
            </a:r>
          </a:p>
          <a:p>
            <a:pPr>
              <a:spcBef>
                <a:spcPts val="600"/>
              </a:spcBef>
            </a:pPr>
            <a:r>
              <a:rPr lang="en-US" sz="3400" dirty="0"/>
              <a:t>• F1-score for "Cracks": 0.90 → 0.92</a:t>
            </a:r>
          </a:p>
          <a:p>
            <a:pPr>
              <a:spcBef>
                <a:spcPts val="600"/>
              </a:spcBef>
            </a:pPr>
            <a:r>
              <a:rPr lang="en-US" sz="3400" dirty="0"/>
              <a:t>• F1-score for "Overheating": 0.86 → 0.89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99EB951C-546B-3270-BF8B-26CD14CBFD53}"/>
              </a:ext>
            </a:extLst>
          </p:cNvPr>
          <p:cNvSpPr txBox="1">
            <a:spLocks/>
          </p:cNvSpPr>
          <p:nvPr/>
        </p:nvSpPr>
        <p:spPr>
          <a:xfrm>
            <a:off x="10963488" y="8753811"/>
            <a:ext cx="10093039" cy="3442856"/>
          </a:xfrm>
          <a:prstGeom prst="rect">
            <a:avLst/>
          </a:prstGeom>
        </p:spPr>
        <p:txBody>
          <a:bodyPr vert="horz" wrap="square" lIns="0" tIns="36000" rIns="0" bIns="36000" rtlCol="0">
            <a:spAutoFit/>
          </a:bodyPr>
          <a:lstStyle>
            <a:lvl1pPr marL="0" marR="0" indent="0" algn="l" defTabSz="3632984" rtl="0" eaLnBrk="1" fontAlgn="auto" latinLnBrk="0" hangingPunct="1">
              <a:lnSpc>
                <a:spcPct val="90000"/>
              </a:lnSpc>
              <a:spcBef>
                <a:spcPts val="3973"/>
              </a:spcBef>
              <a:spcAft>
                <a:spcPts val="0"/>
              </a:spcAft>
              <a:buClrTx/>
              <a:buSzTx/>
              <a:buFontTx/>
              <a:buNone/>
              <a:tabLst/>
              <a:defRPr sz="4238" b="0" i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0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5612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2pPr>
            <a:lvl3pPr marL="0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677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3pPr>
            <a:lvl4pPr marL="0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209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4pPr>
            <a:lvl5pPr marL="0" indent="0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None/>
              <a:defRPr sz="4209" b="0" i="0" kern="1200">
                <a:solidFill>
                  <a:schemeClr val="tx1"/>
                </a:solidFill>
                <a:latin typeface="Arial Narrow" panose="020B0604020202020204" pitchFamily="34" charset="0"/>
                <a:ea typeface="+mn-ea"/>
                <a:cs typeface="Arial Narrow" panose="020B0604020202020204" pitchFamily="34" charset="0"/>
              </a:defRPr>
            </a:lvl5pPr>
            <a:lvl6pPr marL="5880392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6949554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8018717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9087879" indent="-534581" algn="l" defTabSz="2138324" rtl="0" eaLnBrk="1" latinLnBrk="0" hangingPunct="1">
              <a:lnSpc>
                <a:spcPct val="90000"/>
              </a:lnSpc>
              <a:spcBef>
                <a:spcPts val="1169"/>
              </a:spcBef>
              <a:buFont typeface="Arial" panose="020B0604020202020204" pitchFamily="34" charset="0"/>
              <a:buChar char="•"/>
              <a:defRPr sz="420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400" b="1" dirty="0"/>
              <a:t>Data Collection and Model Training: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400" dirty="0"/>
              <a:t>RGB Channel: High-resolution optical images (4K/6K)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400" dirty="0"/>
              <a:t>IR Channel: Thermal images for temperature anomalies</a:t>
            </a: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3400" dirty="0"/>
              <a:t>Three defect classes: </a:t>
            </a:r>
            <a:r>
              <a:rPr lang="en-US" sz="3400" b="1" dirty="0">
                <a:solidFill>
                  <a:srgbClr val="006699"/>
                </a:solidFill>
              </a:rPr>
              <a:t>Cracks</a:t>
            </a:r>
            <a:r>
              <a:rPr lang="en-US" sz="3400" dirty="0"/>
              <a:t> (C¹), </a:t>
            </a:r>
            <a:r>
              <a:rPr lang="en-US" sz="3400" b="1" dirty="0">
                <a:solidFill>
                  <a:srgbClr val="006699"/>
                </a:solidFill>
              </a:rPr>
              <a:t>Corrosion</a:t>
            </a:r>
            <a:r>
              <a:rPr lang="en-US" sz="3400" dirty="0"/>
              <a:t> (C²), </a:t>
            </a:r>
            <a:r>
              <a:rPr lang="en-US" sz="3400" b="1" dirty="0">
                <a:solidFill>
                  <a:srgbClr val="006699"/>
                </a:solidFill>
              </a:rPr>
              <a:t>Overheating</a:t>
            </a:r>
            <a:r>
              <a:rPr lang="en-US" sz="3400" dirty="0"/>
              <a:t> (C³)</a:t>
            </a:r>
            <a:endParaRPr lang="de-DE" sz="34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B63DFA7-CBDB-1FAC-5E20-31FDAB56EB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718" y="17863695"/>
            <a:ext cx="10280955" cy="820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019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304</TotalTime>
  <Words>365</Words>
  <Application>Microsoft Office PowerPoint</Application>
  <PresentationFormat>Custom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Narrow</vt:lpstr>
      <vt:lpstr>Calibri</vt:lpstr>
      <vt:lpstr>Calibri Light</vt:lpstr>
      <vt:lpstr>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Matthias Smukal</dc:creator>
  <cp:lastModifiedBy>Pavlo Radiuk</cp:lastModifiedBy>
  <cp:revision>50</cp:revision>
  <dcterms:created xsi:type="dcterms:W3CDTF">2021-02-25T18:00:09Z</dcterms:created>
  <dcterms:modified xsi:type="dcterms:W3CDTF">2025-08-31T14:22:40Z</dcterms:modified>
</cp:coreProperties>
</file>